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8CAE4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48CAE4"/>
                </a:solidFill>
                <a:latin typeface="Arial"/>
              </a:rPr>
              <a:t>Stress Level Distribution (Balanced)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8E-4898-A83B-569E1BED036C}"/>
              </c:ext>
            </c:extLst>
          </c:dPt>
          <c:dPt>
            <c:idx val="1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8E-4898-A83B-569E1BED036C}"/>
              </c:ext>
            </c:extLst>
          </c:dPt>
          <c:dPt>
            <c:idx val="2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8E-4898-A83B-569E1BED03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Stress</c:v>
                </c:pt>
                <c:pt idx="1">
                  <c:v>Medium Stress</c:v>
                </c:pt>
                <c:pt idx="2">
                  <c:v>High Stress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8486</c:v>
                </c:pt>
                <c:pt idx="1">
                  <c:v>8483</c:v>
                </c:pt>
                <c:pt idx="2">
                  <c:v>8481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8E-4898-A83B-569E1BED03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2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2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8CAE4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48CAE4"/>
                </a:solidFill>
                <a:latin typeface="Arial"/>
              </a:rPr>
              <a:t>Physical Activity Level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Activity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C0-4F45-B502-8D490C84343B}"/>
              </c:ext>
            </c:extLst>
          </c:dPt>
          <c:dPt>
            <c:idx val="1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C0-4F45-B502-8D490C84343B}"/>
              </c:ext>
            </c:extLst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C0-4F45-B502-8D490C8434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C0-4F45-B502-8D490C8434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C0-4F45-B502-8D490C8434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C0-4F45-B502-8D490C8434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(40%)</c:v>
                </c:pt>
                <c:pt idx="1">
                  <c:v>Moderate (40%)</c:v>
                </c:pt>
                <c:pt idx="2">
                  <c:v>High (20%)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10186</c:v>
                </c:pt>
                <c:pt idx="1">
                  <c:v>10172</c:v>
                </c:pt>
                <c:pt idx="2">
                  <c:v>5092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4C0-4F45-B502-8D490C8434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2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8CAE4"/>
                </a:solidFill>
                <a:latin typeface="Arial"/>
              </a:defRPr>
            </a:pPr>
            <a:r>
              <a:rPr lang="en-IN" sz="900" b="0" i="0" u="none" strike="noStrike">
                <a:solidFill>
                  <a:srgbClr val="48CAE4"/>
                </a:solidFill>
                <a:latin typeface="Arial"/>
              </a:rPr>
              <a:t>Quality of Sleep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0A-4D2B-9518-2E4DEE83AFC6}"/>
              </c:ext>
            </c:extLst>
          </c:dPt>
          <c:dPt>
            <c:idx val="1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0A-4D2B-9518-2E4DEE83AFC6}"/>
              </c:ext>
            </c:extLst>
          </c:dPt>
          <c:dPt>
            <c:idx val="2"/>
            <c:invertIfNegative val="0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0A-4D2B-9518-2E4DEE83AFC6}"/>
              </c:ext>
            </c:extLst>
          </c:dPt>
          <c:cat>
            <c:strRef>
              <c:f>Sheet1!$A$2:$A$4</c:f>
              <c:strCache>
                <c:ptCount val="3"/>
                <c:pt idx="0">
                  <c:v>Good</c:v>
                </c:pt>
                <c:pt idx="1">
                  <c:v>Average</c:v>
                </c:pt>
                <c:pt idx="2">
                  <c:v>Poor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12719</c:v>
                </c:pt>
                <c:pt idx="1">
                  <c:v>9021</c:v>
                </c:pt>
                <c:pt idx="2">
                  <c:v>3710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0A-4D2B-9518-2E4DEE83AF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23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E0-4909-979D-B8C5E467B92F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E0-4909-979D-B8C5E467B92F}"/>
              </c:ext>
            </c:extLst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E0-4909-979D-B8C5E467B92F}"/>
              </c:ext>
            </c:extLst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E0-4909-979D-B8C5E467B92F}"/>
              </c:ext>
            </c:extLst>
          </c:dPt>
          <c:dPt>
            <c:idx val="4"/>
            <c:invertIfNegative val="0"/>
            <c:bubble3D val="0"/>
            <c:spPr>
              <a:solidFill>
                <a:srgbClr val="845E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E0-4909-979D-B8C5E467B9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Gradient
Boosting</c:v>
                </c:pt>
                <c:pt idx="2">
                  <c:v>XGBoost</c:v>
                </c:pt>
                <c:pt idx="3">
                  <c:v>Logistic
Regression</c:v>
                </c:pt>
                <c:pt idx="4">
                  <c:v>SVM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95</c:v>
                </c:pt>
                <c:pt idx="2">
                  <c:v>94</c:v>
                </c:pt>
                <c:pt idx="3">
                  <c:v>88</c:v>
                </c:pt>
                <c:pt idx="4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E0-4909-979D-B8C5E467B9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1E32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37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8749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4351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2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0667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312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3362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516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83218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285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3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655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197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8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3171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66925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04868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7" y="564921"/>
            <a:ext cx="7218720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2304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5" cy="8107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1480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76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6178E61D-D431-422C-9764-11DAFE33AB63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3528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725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396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62236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94360"/>
            <a:ext cx="23774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94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MACHINE LEARNING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Human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Behavioral &amp;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Activity Data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" y="3401568"/>
            <a:ext cx="3200400" cy="36576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611880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40280" y="3621024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360916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Logistic Regression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0" y="3611880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SVM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78040" y="3611880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Gradient Boosting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8"/>
                </a:solidFill>
              </a:rPr>
              <a:t>Dataset: 25,450 Records  |  8 Features  |  3-Class Target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🌐 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Stress is a leading cause of burnout, mental illness, and physical health decline globally. Behavioral and digital habits are often early warning signals.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3063240"/>
            <a:ext cx="411480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063240"/>
            <a:ext cx="73152" cy="15087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</a:rPr>
              <a:t>⚠️ 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Traditional self-report methods are inaccurate and delayed. There's no real-time automated system to predict stress from daily behavioral patterns.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411480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371600"/>
            <a:ext cx="73152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813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🤖  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Machine Learning can classify stress levels (Low / Medium / High) from measurable behavioral data — sleep, screen time, physical activity, and work patterns.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1480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73152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🎯  Goal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20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Build, evaluate, and compare 5 ML classifiers to identify the most accurate predictor for a 3-class stress level classification task.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25,450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B2D"/>
                </a:solidFill>
              </a:rPr>
              <a:t>Total Records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280160"/>
            <a:ext cx="19202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B2D"/>
                </a:solidFill>
              </a:rPr>
              <a:t>Input 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202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B2D"/>
                </a:solidFill>
              </a:rPr>
              <a:t>Stress Classes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1280160"/>
            <a:ext cx="19202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298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</a:rPr>
              <a:t>~8,484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1B2D"/>
                </a:solidFill>
              </a:rPr>
              <a:t>Per Class (Balanced)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8595360" cy="2606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Numerical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18 – 59 years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Gender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Male / Female (balanced ~50/50)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Sleep Duration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Numerical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4 – 9 hours/night (avg 6.5h)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Quality of Sleep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Good / Average / Poor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Physical Activity Level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Categorical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Low / Moderate / 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Work Hours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Numerical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4 – 12 hrs/day (avg 8.5h)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Screen Time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Numerical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E8F4F8"/>
                          </a:solidFill>
                        </a:rPr>
                        <a:t>2 – 10 hrs/day (avg 7.8h)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</a:rPr>
                        <a:t>Stress Level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</a:rPr>
                        <a:t>Target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</a:rPr>
                        <a:t>Low / Medium / High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01752" y="1417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21945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Loaded Stress_Level_Dataset.csv using pandas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25,450 records with 8 columns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04872" y="13258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78024" y="1417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78024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78024" y="21945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Removed duplicates via drop_duplicates()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Filled nulls using forward-fill (ffill)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81144" y="13258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417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296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EDA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54296" y="21945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Histograms, KDE plots for numerical features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Countplots for categorical features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57416" y="13258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0568" y="14173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056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0568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Encoding &amp; Scaling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21945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LabelEncoder for categorical columns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StandardScaler applied to numerical features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1546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1752" y="3246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1752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Train-Test Split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" y="40233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80% train / 20% 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Stratified split (random_state=42)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04872" y="31546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78024" y="3246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78024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78024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SMOTE Check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78024" y="40233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Checked class imbalance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Applied SMOTE if ratio &lt; 0.6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81144" y="31546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54296" y="3246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4296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54296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54296" y="40233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5 ML classifiers trained and evaluated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Accuracy, confusion matrix metrics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57416" y="3154680"/>
            <a:ext cx="1993392" cy="1600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30568" y="3246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0568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30568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30568" y="4023360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Best model saved with pickle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Gradio UI for live prediction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8016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280160"/>
          <a:ext cx="21945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903720" y="1280160"/>
            <a:ext cx="201168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995160" y="1316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</a:rPr>
              <a:t>😴 Sleep Duration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99516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Avg 6.5h/night  |  Range: 4-9h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903720" y="2029968"/>
            <a:ext cx="201168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95160" y="2066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</a:rPr>
              <a:t>💻 Screen Time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995160" y="23042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Avg 7.8h/day  |  Range: 2-10h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6903720" y="2779776"/>
            <a:ext cx="201168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995160" y="2816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</a:rPr>
              <a:t>💼 Work Hours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995160" y="3054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Avg 8.5h/day  |  Range: 4-12h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903720" y="3529584"/>
            <a:ext cx="2011680" cy="640080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99516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CAE4"/>
                </a:solidFill>
              </a:rPr>
              <a:t>👥 Gender Split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995160" y="3803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~50/50  |  12,762 M / 12,688 F</a:t>
            </a:r>
            <a:endParaRPr lang="en-US" sz="85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4572000" y="3383280"/>
          <a:ext cx="219456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Transformation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4297680" cy="1143000"/>
          </a:xfrm>
          <a:prstGeom prst="rect">
            <a:avLst/>
          </a:prstGeom>
          <a:solidFill>
            <a:srgbClr val="162236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61872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1673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Step 1: Remove Duplicates &amp; Handle Nulls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158191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df.drop_duplicates(inplace=True)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df.fillna(method='ffill', inplace=True)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93192" y="21396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8"/>
                </a:solidFill>
              </a:rPr>
              <a:t>✔ No null values found; minimal duplicates removed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2523744"/>
            <a:ext cx="4297680" cy="1143000"/>
          </a:xfrm>
          <a:prstGeom prst="rect">
            <a:avLst/>
          </a:prstGeom>
          <a:solidFill>
            <a:srgbClr val="162236"/>
          </a:solidFill>
          <a:ln w="1016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523744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5786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Step 2: Label Encoding (Categorical → Numeric)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284378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cat_cols: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X[col] = le.fit_transform(X[col])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" y="34015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8"/>
                </a:solidFill>
              </a:rPr>
              <a:t>✔ Gender, Quality of Sleep, Physical Activity, Stress Level encoded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3785616"/>
            <a:ext cx="4297680" cy="1143000"/>
          </a:xfrm>
          <a:prstGeom prst="rect">
            <a:avLst/>
          </a:prstGeom>
          <a:solidFill>
            <a:srgbClr val="162236"/>
          </a:solidFill>
          <a:ln w="1016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785616"/>
            <a:ext cx="64008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84048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Step 3: Standard Scaling (Numerical Features)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" y="41056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X[num_cols] = scaler.fit_transform(X[num_cols])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3192" y="466344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8"/>
                </a:solidFill>
              </a:rPr>
              <a:t>✔ Age, Sleep Duration, Work Hours, Screen Time scaled to zero mean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261872"/>
            <a:ext cx="4297680" cy="1143000"/>
          </a:xfrm>
          <a:prstGeom prst="rect">
            <a:avLst/>
          </a:prstGeom>
          <a:solidFill>
            <a:srgbClr val="162236"/>
          </a:solidFill>
          <a:ln w="10160">
            <a:solidFill>
              <a:srgbClr val="845E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261872"/>
            <a:ext cx="64008" cy="11430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31673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45EC2"/>
                </a:solidFill>
              </a:rPr>
              <a:t>Step 4: Train-Test Split (Stratified)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65192" y="158191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 test_size=0.2,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random_state=42, stratify=y)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65192" y="21396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8"/>
                </a:solidFill>
              </a:rPr>
              <a:t>✔ 80/20 split — 20,360 train | 5,090 test | class balance maintained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2523744"/>
            <a:ext cx="4297680" cy="1143000"/>
          </a:xfrm>
          <a:prstGeom prst="rect">
            <a:avLst/>
          </a:prstGeom>
          <a:solidFill>
            <a:srgbClr val="162236"/>
          </a:solidFill>
          <a:ln w="1016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523744"/>
            <a:ext cx="64008" cy="11430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5786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35"/>
                </a:solidFill>
              </a:rPr>
              <a:t>Step 5: SMOTE (Imbalance Check)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65192" y="284378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min/max ratio &lt; 0.6: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sm = SMOTE(random_state=42)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X_train, y_train = sm.fit_resample(...)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65192" y="34015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C4D8"/>
                </a:solidFill>
              </a:rPr>
              <a:t>✔ Dataset is balanced (~8,484 per class) — SMOTE not needed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ML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298448"/>
            <a:ext cx="2834640" cy="1691640"/>
          </a:xfrm>
          <a:prstGeom prst="rect">
            <a:avLst/>
          </a:prstGeom>
          <a:solidFill>
            <a:srgbClr val="162236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98448"/>
            <a:ext cx="2834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38988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📈  Logistic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7556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LogisticRegression()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92608" y="2066544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Fast, interpretable linear model using sigmoid/softmax. Good baseline classifier for multi-class problems.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298448"/>
            <a:ext cx="2834640" cy="1691640"/>
          </a:xfrm>
          <a:prstGeom prst="rect">
            <a:avLst/>
          </a:prstGeom>
          <a:solidFill>
            <a:srgbClr val="162236"/>
          </a:solidFill>
          <a:ln w="1016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298448"/>
            <a:ext cx="283464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8988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🌲  Random Forest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18688" y="17556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RandomForestClassifier()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18688" y="2066544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Ensemble of decision trees using bagging. Reduces overfitting, handles mixed feature types, provides feature importance.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298448"/>
            <a:ext cx="2834640" cy="1691640"/>
          </a:xfrm>
          <a:prstGeom prst="rect">
            <a:avLst/>
          </a:prstGeom>
          <a:solidFill>
            <a:srgbClr val="162236"/>
          </a:solidFill>
          <a:ln w="1016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98448"/>
            <a:ext cx="283464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389888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⚡  XGBoost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75564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XGBClassifier(eval_metric='mlogloss')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44768" y="2066544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Gradient boosting with regularization. Handles tabular data with high accuracy, built-in cross-validation support.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218688"/>
            <a:ext cx="4251960" cy="1691640"/>
          </a:xfrm>
          <a:prstGeom prst="rect">
            <a:avLst/>
          </a:prstGeom>
          <a:solidFill>
            <a:srgbClr val="162236"/>
          </a:solidFill>
          <a:ln w="1016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218688"/>
            <a:ext cx="42519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310128"/>
            <a:ext cx="4087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🚀  Gradient Boosting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" y="367588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GradientBoostingClassifier()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2608" y="3986784"/>
            <a:ext cx="4087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Sequential ensemble method correcting errors of prior trees. Robust to outliers and noise in behavioral data.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218688"/>
            <a:ext cx="4251960" cy="1691640"/>
          </a:xfrm>
          <a:prstGeom prst="rect">
            <a:avLst/>
          </a:prstGeom>
          <a:solidFill>
            <a:srgbClr val="162236"/>
          </a:solidFill>
          <a:ln w="10160">
            <a:solidFill>
              <a:srgbClr val="845E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218688"/>
            <a:ext cx="4251960" cy="54864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310128"/>
            <a:ext cx="4087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45EC2"/>
                </a:solidFill>
              </a:rPr>
              <a:t>🔷  SVM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27448" y="3675888"/>
            <a:ext cx="4087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SVC(kernel='rbf')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27448" y="3986784"/>
            <a:ext cx="4087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Support Vector Machine with RBF kernel. Effective in high-dimensional feature spaces; strong for structured data.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MODEL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234440"/>
            <a:ext cx="3063240" cy="594360"/>
          </a:xfrm>
          <a:prstGeom prst="rect">
            <a:avLst/>
          </a:prstGeom>
          <a:solidFill>
            <a:srgbClr val="162236"/>
          </a:solidFill>
          <a:ln w="889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0" y="1234440"/>
            <a:ext cx="54864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1888" y="1289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75320" y="127101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6D6A0"/>
                </a:solidFill>
              </a:rPr>
              <a:t>97%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961888" y="1645920"/>
            <a:ext cx="2103120" cy="91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61888" y="1645920"/>
            <a:ext cx="1892808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06440" y="1929384"/>
            <a:ext cx="3063240" cy="594360"/>
          </a:xfrm>
          <a:prstGeom prst="rect">
            <a:avLst/>
          </a:prstGeom>
          <a:solidFill>
            <a:srgbClr val="162236"/>
          </a:solidFill>
          <a:ln w="889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06440" y="1929384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888" y="1984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75320" y="19659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95%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961888" y="2340864"/>
            <a:ext cx="2103120" cy="91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61888" y="2340864"/>
            <a:ext cx="17526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06440" y="2624328"/>
            <a:ext cx="3063240" cy="594360"/>
          </a:xfrm>
          <a:prstGeom prst="rect">
            <a:avLst/>
          </a:prstGeom>
          <a:solidFill>
            <a:srgbClr val="162236"/>
          </a:solidFill>
          <a:ln w="889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2624328"/>
            <a:ext cx="54864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</a:rPr>
              <a:t>XGBoost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75320" y="266090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D166"/>
                </a:solidFill>
              </a:rPr>
              <a:t>94%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961888" y="3035808"/>
            <a:ext cx="2103120" cy="91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61888" y="3035808"/>
            <a:ext cx="1682496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06440" y="3319272"/>
            <a:ext cx="3063240" cy="594360"/>
          </a:xfrm>
          <a:prstGeom prst="rect">
            <a:avLst/>
          </a:prstGeom>
          <a:solidFill>
            <a:srgbClr val="162236"/>
          </a:solidFill>
          <a:ln w="889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3319272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61888" y="3374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275320" y="335584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6B35"/>
                </a:solidFill>
              </a:rPr>
              <a:t>88%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961888" y="3730752"/>
            <a:ext cx="2103120" cy="91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61888" y="3730752"/>
            <a:ext cx="1261872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06440" y="4014216"/>
            <a:ext cx="3063240" cy="594360"/>
          </a:xfrm>
          <a:prstGeom prst="rect">
            <a:avLst/>
          </a:prstGeom>
          <a:solidFill>
            <a:srgbClr val="162236"/>
          </a:solidFill>
          <a:ln w="8890">
            <a:solidFill>
              <a:srgbClr val="845E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806440" y="4014216"/>
            <a:ext cx="54864" cy="59436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61888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F4F8"/>
                </a:solidFill>
              </a:rPr>
              <a:t>SVM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275320" y="405079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45EC2"/>
                </a:solidFill>
              </a:rPr>
              <a:t>86%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961888" y="4425696"/>
            <a:ext cx="2103120" cy="914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61888" y="4425696"/>
            <a:ext cx="1121664" cy="9144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D6A0"/>
                </a:solidFill>
              </a:rPr>
              <a:t>BEST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1280160" cy="128016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58368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73736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Random Forest Classifier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D6A0"/>
                </a:solidFill>
              </a:rPr>
              <a:t>Accuracy: 97%  |  Saved as best_model.pkl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572000" cy="3108960"/>
          </a:xfrm>
          <a:prstGeom prst="rect">
            <a:avLst/>
          </a:prstGeom>
          <a:solidFill>
            <a:srgbClr val="162236"/>
          </a:solidFill>
          <a:ln w="1016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Why Random Forest Won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4251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Ensemble of trees reduces prediction variance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Handles mixed feature types (numerical + categorical)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Robust to outliers in work hours / screen time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No feature scaling required (unlike SVM/LR)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Provides feature importance for interpretability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</a:rPr>
              <a:t>Less prone to overfitting than a single Decision Tree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664208"/>
            <a:ext cx="3840480" cy="3108960"/>
          </a:xfrm>
          <a:prstGeom prst="rect">
            <a:avLst/>
          </a:prstGeom>
          <a:solidFill>
            <a:srgbClr val="162236"/>
          </a:solidFill>
          <a:ln w="1016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Model Saving &amp; Deployment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121408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pickle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best 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pickle.dump(best_model,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open('best_model.pkl','wb'))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pickle.dump(scaler,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open('scaler.pkl','wb'))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Gradio Interface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gr.Interface(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fn=predict,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inputs=[...sliders/dropdowns],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outputs=gr.Textbox(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label="Stress Level"),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title="Stress Level Predictor"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app.launch()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600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🎯  Objective Met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Successfully built a 3-class stress level classifier using 5 ML algorithms on 25,450 real-world behavioral records.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14800" cy="1600200"/>
          </a:xfrm>
          <a:prstGeom prst="rect">
            <a:avLst/>
          </a:prstGeom>
          <a:solidFill>
            <a:srgbClr val="162236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73152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435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🏆  Best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1828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Random Forest achieved the highest accuracy (97%) and was selected as the final model for deployment via Gradio.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4114800" cy="1600200"/>
          </a:xfrm>
          <a:prstGeom prst="rect">
            <a:avLst/>
          </a:prstGeom>
          <a:solidFill>
            <a:srgbClr val="162236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54680"/>
            <a:ext cx="73152" cy="1600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64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🔬  Key Insight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Sleep duration, screen time, and work hours are the strongest behavioral predictors of human stress levels.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54680"/>
            <a:ext cx="4114800" cy="1600200"/>
          </a:xfrm>
          <a:prstGeom prst="rect">
            <a:avLst/>
          </a:prstGeom>
          <a:solidFill>
            <a:srgbClr val="162236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154680"/>
            <a:ext cx="73152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264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🚀  Future Scope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0328" y="36576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Expand dataset with biometric data (heart rate, cortisol). Deploy as real-time mobile/web app. Explore deep learning approaches.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-1371600"/>
            <a:ext cx="6400800" cy="6400800"/>
          </a:xfrm>
          <a:prstGeom prst="ellipse">
            <a:avLst/>
          </a:prstGeom>
          <a:solidFill>
            <a:srgbClr val="1A2E4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-731520"/>
            <a:ext cx="5029200" cy="5029200"/>
          </a:xfrm>
          <a:prstGeom prst="ellipse">
            <a:avLst/>
          </a:prstGeom>
          <a:solidFill>
            <a:srgbClr val="162236"/>
          </a:solidFill>
          <a:ln w="3810">
            <a:solidFill>
              <a:srgbClr val="48CA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4747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871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4F8"/>
                </a:solidFill>
              </a:rPr>
              <a:t>Predicting Human Stress Levels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8F4F8"/>
                </a:solidFill>
              </a:rPr>
              <a:t>Through Behavioral and Digital Activity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8840" y="3401568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XGBoost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3401568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Gradient Boosting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32120" y="3401568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Logistic Regression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23760" y="3401568"/>
            <a:ext cx="1554480" cy="274320"/>
          </a:xfrm>
          <a:prstGeom prst="rect">
            <a:avLst/>
          </a:prstGeom>
          <a:solidFill>
            <a:srgbClr val="1E3250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8CAE4"/>
                </a:solidFill>
              </a:rPr>
              <a:t>SVM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C4D8"/>
                </a:solidFill>
              </a:rPr>
              <a:t>Dataset: 25,450 Records  |  8 Features  |  Best Accuracy: 97%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</TotalTime>
  <Words>1146</Words>
  <Application>Microsoft Office PowerPoint</Application>
  <PresentationFormat>On-screen Show (16:9)</PresentationFormat>
  <Paragraphs>217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Human Stress Levels Through Behavioral and Digital Activity Data</dc:title>
  <dc:subject>PptxGenJS Presentation</dc:subject>
  <dc:creator>PptxGenJS</dc:creator>
  <cp:lastModifiedBy>S Rakesh Nath</cp:lastModifiedBy>
  <cp:revision>3</cp:revision>
  <dcterms:created xsi:type="dcterms:W3CDTF">2026-03-20T18:32:16Z</dcterms:created>
  <dcterms:modified xsi:type="dcterms:W3CDTF">2026-03-25T13:16:28Z</dcterms:modified>
</cp:coreProperties>
</file>